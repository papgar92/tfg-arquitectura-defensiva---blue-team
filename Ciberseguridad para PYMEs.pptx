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Caveat"/>
      <p:regular r:id="rId34"/>
      <p:bold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Merriweather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regular.fntdata"/><Relationship Id="rId20" Type="http://schemas.openxmlformats.org/officeDocument/2006/relationships/slide" Target="slides/slide15.xml"/><Relationship Id="rId42" Type="http://schemas.openxmlformats.org/officeDocument/2006/relationships/font" Target="fonts/Merriweather-italic.fntdata"/><Relationship Id="rId41" Type="http://schemas.openxmlformats.org/officeDocument/2006/relationships/font" Target="fonts/Merriweather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Merriweather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Caveat-bold.fntdata"/><Relationship Id="rId12" Type="http://schemas.openxmlformats.org/officeDocument/2006/relationships/slide" Target="slides/slide7.xml"/><Relationship Id="rId34" Type="http://schemas.openxmlformats.org/officeDocument/2006/relationships/font" Target="fonts/Caveat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ataque DDos (denegación de servicio) es aquel en el que el objetivo es saturar el tráfico de un servidor para dejarlo inoperativo.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23630543_1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72363054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257cdc8f6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257cdc8f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e965474a9_3_3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e965474a9_3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b9a0b074_1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b9a0b07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23630543_5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23630543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814cf7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814cf7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e965474a9_3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e965474a9_3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b9a0b07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cb9a0b07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b9a0b074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cb9a0b07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cb9a0b07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cb9a0b07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e965474a9_3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e965474a9_3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e965474a9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e965474a9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cb9a0b074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cb9a0b074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 title="network-3537400_12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35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Formaci</a:t>
            </a:r>
            <a:r>
              <a:rPr lang="es"/>
              <a:t>ón en ciberseguridad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PYMEs</a:t>
            </a:r>
            <a:endParaRPr/>
          </a:p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482850" y="3915371"/>
            <a:ext cx="43494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</a:rPr>
              <a:t>Guía elaborada por Pablo Pérez García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4294967295" type="title"/>
          </p:nvPr>
        </p:nvSpPr>
        <p:spPr>
          <a:xfrm>
            <a:off x="535775" y="310700"/>
            <a:ext cx="75153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3500"/>
              <a:t>Qué es la seguridad informática</a:t>
            </a:r>
            <a:endParaRPr sz="2300"/>
          </a:p>
        </p:txBody>
      </p:sp>
      <p:sp>
        <p:nvSpPr>
          <p:cNvPr id="72" name="Google Shape;72;p14"/>
          <p:cNvSpPr txBox="1"/>
          <p:nvPr>
            <p:ph idx="4294967295" type="title"/>
          </p:nvPr>
        </p:nvSpPr>
        <p:spPr>
          <a:xfrm>
            <a:off x="535775" y="1234825"/>
            <a:ext cx="5197200" cy="3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500">
                <a:latin typeface="Lato"/>
                <a:ea typeface="Lato"/>
                <a:cs typeface="Lato"/>
                <a:sym typeface="Lato"/>
              </a:rPr>
              <a:t>Es la forma de asegurar que los recursos informáticos sean usados para lo que se pensó y el acceso a la información solo sea posible para las personas acreditadas por la organización.</a:t>
            </a:r>
            <a:endParaRPr b="0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500">
                <a:latin typeface="Lato"/>
                <a:ea typeface="Lato"/>
                <a:cs typeface="Lato"/>
                <a:sym typeface="Lato"/>
              </a:rPr>
              <a:t>A destacar la </a:t>
            </a:r>
            <a:r>
              <a:rPr b="0" lang="es" sz="1500">
                <a:latin typeface="Lato"/>
                <a:ea typeface="Lato"/>
                <a:cs typeface="Lato"/>
                <a:sym typeface="Lato"/>
              </a:rPr>
              <a:t>tríada</a:t>
            </a:r>
            <a:r>
              <a:rPr b="0" lang="es" sz="1500">
                <a:latin typeface="Lato"/>
                <a:ea typeface="Lato"/>
                <a:cs typeface="Lato"/>
                <a:sym typeface="Lato"/>
              </a:rPr>
              <a:t> CIA (por sus siglas en inglés) de la ciberseguridad:</a:t>
            </a:r>
            <a:endParaRPr b="0" sz="1500"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b="0" lang="es" sz="1500">
                <a:latin typeface="Lato"/>
                <a:ea typeface="Lato"/>
                <a:cs typeface="Lato"/>
                <a:sym typeface="Lato"/>
              </a:rPr>
              <a:t>Confidencialidad: acceso a información sólo por personal acreditado.</a:t>
            </a:r>
            <a:endParaRPr b="0" sz="1500"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b="0" lang="es" sz="1500">
                <a:latin typeface="Lato"/>
                <a:ea typeface="Lato"/>
                <a:cs typeface="Lato"/>
                <a:sym typeface="Lato"/>
              </a:rPr>
              <a:t>Integridad: Mantener consistencia de la información.</a:t>
            </a:r>
            <a:endParaRPr b="0" sz="1500"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b="0" lang="es" sz="1500">
                <a:latin typeface="Lato"/>
                <a:ea typeface="Lato"/>
                <a:cs typeface="Lato"/>
                <a:sym typeface="Lato"/>
              </a:rPr>
              <a:t>Disponibilidad: Información siempre disponible.</a:t>
            </a:r>
            <a:endParaRPr b="0"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3" name="Google Shape;73;p14" title="images.jpeg"/>
          <p:cNvPicPr preferRelativeResize="0"/>
          <p:nvPr/>
        </p:nvPicPr>
        <p:blipFill rotWithShape="1">
          <a:blip r:embed="rId3">
            <a:alphaModFix/>
          </a:blip>
          <a:srcRect b="5626" l="0" r="0" t="5634"/>
          <a:stretch/>
        </p:blipFill>
        <p:spPr>
          <a:xfrm>
            <a:off x="6353658" y="1078700"/>
            <a:ext cx="2486192" cy="32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4972875" y="4572000"/>
            <a:ext cx="3943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Fuente: Sistemas informáticos y redes locales. </a:t>
            </a:r>
            <a:r>
              <a:rPr lang="es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M</a:t>
            </a:r>
            <a:r>
              <a:rPr lang="es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iguel Ángel Martínez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 title="technology-7111765_1280.jpg"/>
          <p:cNvPicPr preferRelativeResize="0"/>
          <p:nvPr/>
        </p:nvPicPr>
        <p:blipFill rotWithShape="1">
          <a:blip r:embed="rId3">
            <a:alphaModFix/>
          </a:blip>
          <a:srcRect b="0" l="47047" r="0" t="0"/>
          <a:stretch/>
        </p:blipFill>
        <p:spPr>
          <a:xfrm>
            <a:off x="4061977" y="0"/>
            <a:ext cx="508202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81" name="Google Shape;81;p15"/>
          <p:cNvPicPr preferRelativeResize="0"/>
          <p:nvPr/>
        </p:nvPicPr>
        <p:blipFill rotWithShape="1">
          <a:blip r:embed="rId5">
            <a:alphaModFix/>
          </a:blip>
          <a:srcRect b="10011" l="9244" r="2118" t="5926"/>
          <a:stretch/>
        </p:blipFill>
        <p:spPr>
          <a:xfrm rot="154828">
            <a:off x="11738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4933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¿Por qu</a:t>
            </a:r>
            <a:r>
              <a:rPr b="1" lang="es" sz="17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é es importante</a:t>
            </a:r>
            <a:r>
              <a:rPr b="1" lang="es" sz="17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?¿Nos debemos preocupar?</a:t>
            </a:r>
            <a:endParaRPr b="1" sz="17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" name="Google Shape;83;p15"/>
          <p:cNvSpPr txBox="1"/>
          <p:nvPr>
            <p:ph idx="4294967295" type="body"/>
          </p:nvPr>
        </p:nvSpPr>
        <p:spPr>
          <a:xfrm>
            <a:off x="493350" y="1377475"/>
            <a:ext cx="3579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En la era de la información es importante mantenerla segura de </a:t>
            </a: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indiscreciones</a:t>
            </a: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400"/>
              <a:buFont typeface="Raleway"/>
              <a:buChar char="➔"/>
            </a:pPr>
            <a:r>
              <a:rPr b="1" lang="es" sz="1400">
                <a:latin typeface="Raleway"/>
                <a:ea typeface="Raleway"/>
                <a:cs typeface="Raleway"/>
                <a:sym typeface="Raleway"/>
              </a:rPr>
              <a:t>Mala reputación</a:t>
            </a:r>
            <a:br>
              <a:rPr lang="es" sz="140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Una brecha de seguridad de información nos podría generar una mala reputación frente a nuestros competidores.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Font typeface="Raleway"/>
              <a:buChar char="➔"/>
            </a:pPr>
            <a:r>
              <a:rPr b="1" lang="es" sz="1400">
                <a:latin typeface="Raleway"/>
                <a:ea typeface="Raleway"/>
                <a:cs typeface="Raleway"/>
                <a:sym typeface="Raleway"/>
              </a:rPr>
              <a:t>Pérdidas</a:t>
            </a:r>
            <a:r>
              <a:rPr b="1" lang="es" sz="1400">
                <a:latin typeface="Raleway"/>
                <a:ea typeface="Raleway"/>
                <a:cs typeface="Raleway"/>
                <a:sym typeface="Raleway"/>
              </a:rPr>
              <a:t> económicas</a:t>
            </a:r>
            <a:br>
              <a:rPr lang="es" sz="140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De la misma forma puede causarnos importantes pérdidas económicas (por ejemplo: que nos exijan un rescate por el secuestro de la información)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Font typeface="Raleway"/>
              <a:buChar char="➔"/>
            </a:pPr>
            <a:r>
              <a:rPr b="1" lang="es" sz="1400">
                <a:latin typeface="Raleway"/>
                <a:ea typeface="Raleway"/>
                <a:cs typeface="Raleway"/>
                <a:sym typeface="Raleway"/>
              </a:rPr>
              <a:t>Responsabilidad legal </a:t>
            </a:r>
            <a:br>
              <a:rPr b="1" lang="es" sz="1400">
                <a:latin typeface="Raleway"/>
                <a:ea typeface="Raleway"/>
                <a:cs typeface="Raleway"/>
                <a:sym typeface="Raleway"/>
              </a:rPr>
            </a:br>
            <a:endParaRPr b="1"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 title="CPD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75" y="1550725"/>
            <a:ext cx="7332475" cy="32729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167000" y="186350"/>
            <a:ext cx="8789700" cy="19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>
                <a:solidFill>
                  <a:schemeClr val="dk2"/>
                </a:solidFill>
              </a:rPr>
              <a:t>Tipos de ataques informáticos</a:t>
            </a:r>
            <a:endParaRPr sz="4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300">
              <a:solidFill>
                <a:schemeClr val="dk2"/>
              </a:solidFill>
            </a:endParaRPr>
          </a:p>
        </p:txBody>
      </p:sp>
      <p:grpSp>
        <p:nvGrpSpPr>
          <p:cNvPr id="90" name="Google Shape;90;p16"/>
          <p:cNvGrpSpPr/>
          <p:nvPr/>
        </p:nvGrpSpPr>
        <p:grpSpPr>
          <a:xfrm>
            <a:off x="6744725" y="2390685"/>
            <a:ext cx="2212050" cy="2020839"/>
            <a:chOff x="6803287" y="395363"/>
            <a:chExt cx="2212050" cy="2020839"/>
          </a:xfrm>
        </p:grpSpPr>
        <p:pic>
          <p:nvPicPr>
            <p:cNvPr id="91" name="Google Shape;91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87" y="503651"/>
              <a:ext cx="2212050" cy="1912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rozo de cinta adhesiva que pega una nota a la diapositiva" id="92" name="Google Shape;92;p16"/>
            <p:cNvPicPr preferRelativeResize="0"/>
            <p:nvPr/>
          </p:nvPicPr>
          <p:blipFill rotWithShape="1">
            <a:blip r:embed="rId5">
              <a:alphaModFix/>
            </a:blip>
            <a:srcRect b="10011" l="9244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6"/>
            <p:cNvSpPr txBox="1"/>
            <p:nvPr/>
          </p:nvSpPr>
          <p:spPr>
            <a:xfrm>
              <a:off x="6944799" y="682659"/>
              <a:ext cx="18825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Consejo</a:t>
              </a:r>
              <a:endParaRPr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just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>
                  <a:solidFill>
                    <a:schemeClr val="dk2"/>
                  </a:solidFill>
                </a:rPr>
                <a:t>Para evitar caer a ataques informáticos es necesario saber cómo pueden engañarte</a:t>
              </a:r>
              <a:endParaRPr b="1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 title="anonymous-8291092_128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2350" y="0"/>
            <a:ext cx="4383799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7"/>
          <p:cNvGrpSpPr/>
          <p:nvPr/>
        </p:nvGrpSpPr>
        <p:grpSpPr>
          <a:xfrm>
            <a:off x="6621359" y="2264159"/>
            <a:ext cx="2371539" cy="2736744"/>
            <a:chOff x="6803275" y="395363"/>
            <a:chExt cx="2212050" cy="2537076"/>
          </a:xfrm>
        </p:grpSpPr>
        <p:pic>
          <p:nvPicPr>
            <p:cNvPr id="100" name="Google Shape;100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rozo de cinta adhesiva que pega una nota a la diapositiva" id="101" name="Google Shape;101;p17"/>
            <p:cNvPicPr preferRelativeResize="0"/>
            <p:nvPr/>
          </p:nvPicPr>
          <p:blipFill rotWithShape="1">
            <a:blip r:embed="rId5">
              <a:alphaModFix/>
            </a:blip>
            <a:srcRect b="10011" l="9244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Cortafuegos o firewall</a:t>
              </a:r>
              <a:endParaRPr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just">
                <a:lnSpc>
                  <a:spcPct val="15000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850">
                  <a:solidFill>
                    <a:schemeClr val="dk2"/>
                  </a:solidFill>
                </a:rPr>
                <a:t>Sistema de seguridad compuesto o bien de programas (software) o de dispositivos hardware situados en los puntos limítrofes de una red que aseguran que todas las comunicaciones entre la red e Internet se realicen conforme a las políticas de seguridad de la organización. </a:t>
              </a:r>
              <a:endParaRPr b="1" sz="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03" name="Google Shape;103;p17"/>
          <p:cNvSpPr txBox="1"/>
          <p:nvPr/>
        </p:nvSpPr>
        <p:spPr>
          <a:xfrm>
            <a:off x="290500" y="1365100"/>
            <a:ext cx="3981600" cy="3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s" sz="1700">
                <a:solidFill>
                  <a:schemeClr val="dk1"/>
                </a:solidFill>
              </a:rPr>
              <a:t>Malware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Es cualquier tipo de software malicioso diseñado para infiltrarse en tu dispositivo sin tu conocimiento. Hay muchos tipos de malware y cada uno busca sus objetivos de un modo diferente. Por ejemplo, troyanos o spyware.</a:t>
            </a:r>
            <a:endParaRPr sz="95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s" sz="1700">
                <a:solidFill>
                  <a:schemeClr val="dk1"/>
                </a:solidFill>
              </a:rPr>
              <a:t>Ransomware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Este software malicioso "secuestra" la información de la empresa, impidiendo el acceso a la misma y solicitando un rescate a cambio de su liberación. </a:t>
            </a:r>
            <a:endParaRPr sz="9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s" sz="1700">
                <a:solidFill>
                  <a:schemeClr val="dk1"/>
                </a:solidFill>
              </a:rPr>
              <a:t>Spyware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</a:rPr>
              <a:t>Un malware que espía el dispositivo y recopila información.</a:t>
            </a:r>
            <a:endParaRPr sz="9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s" sz="1700">
                <a:solidFill>
                  <a:schemeClr val="dk1"/>
                </a:solidFill>
              </a:rPr>
              <a:t>Botnets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</a:rPr>
              <a:t>Una red de dispositivos que se propagan de forma desapercibida y que pueden ser utilizados para ataques DDoS, spam, etc.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290525" y="368350"/>
            <a:ext cx="41982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Algunos tipos de software malicioso.</a:t>
            </a:r>
            <a:endParaRPr b="1" sz="2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 title="depositphotos_428581668-stock-illustration-doxing-abstract-concept-vector-illustration.jpg"/>
          <p:cNvPicPr preferRelativeResize="0"/>
          <p:nvPr/>
        </p:nvPicPr>
        <p:blipFill rotWithShape="1">
          <a:blip r:embed="rId3">
            <a:alphaModFix/>
          </a:blip>
          <a:srcRect b="7140" l="0" r="0" t="0"/>
          <a:stretch/>
        </p:blipFill>
        <p:spPr>
          <a:xfrm>
            <a:off x="4572000" y="0"/>
            <a:ext cx="455407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>
            <p:ph type="title"/>
          </p:nvPr>
        </p:nvSpPr>
        <p:spPr>
          <a:xfrm>
            <a:off x="283100" y="1245550"/>
            <a:ext cx="4234800" cy="3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700">
                <a:solidFill>
                  <a:schemeClr val="dk2"/>
                </a:solidFill>
              </a:rPr>
              <a:t>Son ataques </a:t>
            </a:r>
            <a:r>
              <a:rPr b="0" lang="es" sz="2700">
                <a:solidFill>
                  <a:schemeClr val="dk2"/>
                </a:solidFill>
              </a:rPr>
              <a:t>informáticos</a:t>
            </a:r>
            <a:r>
              <a:rPr b="0" lang="es" sz="2700">
                <a:solidFill>
                  <a:schemeClr val="dk2"/>
                </a:solidFill>
              </a:rPr>
              <a:t> que se aprovechan de los errores humanos para </a:t>
            </a:r>
            <a:r>
              <a:rPr b="0" lang="es" sz="2700">
                <a:solidFill>
                  <a:schemeClr val="dk2"/>
                </a:solidFill>
              </a:rPr>
              <a:t>comprometer tu s</a:t>
            </a:r>
            <a:r>
              <a:rPr b="0" lang="es" sz="2700">
                <a:solidFill>
                  <a:schemeClr val="dk2"/>
                </a:solidFill>
              </a:rPr>
              <a:t>eguridad y la de </a:t>
            </a:r>
            <a:endParaRPr b="0" sz="2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700">
                <a:solidFill>
                  <a:schemeClr val="dk2"/>
                </a:solidFill>
              </a:rPr>
              <a:t>tu entorno laboral.</a:t>
            </a:r>
            <a:endParaRPr b="0" sz="2700">
              <a:solidFill>
                <a:schemeClr val="dk2"/>
              </a:solidFill>
            </a:endParaRPr>
          </a:p>
        </p:txBody>
      </p:sp>
      <p:grpSp>
        <p:nvGrpSpPr>
          <p:cNvPr id="111" name="Google Shape;111;p18"/>
          <p:cNvGrpSpPr/>
          <p:nvPr/>
        </p:nvGrpSpPr>
        <p:grpSpPr>
          <a:xfrm>
            <a:off x="6781400" y="3184287"/>
            <a:ext cx="2212050" cy="1660560"/>
            <a:chOff x="6803275" y="826168"/>
            <a:chExt cx="2212050" cy="2504994"/>
          </a:xfrm>
        </p:grpSpPr>
        <p:pic>
          <p:nvPicPr>
            <p:cNvPr id="112" name="Google Shape;112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826168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8"/>
            <p:cNvSpPr txBox="1"/>
            <p:nvPr/>
          </p:nvSpPr>
          <p:spPr>
            <a:xfrm>
              <a:off x="6944800" y="1082977"/>
              <a:ext cx="1967100" cy="21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80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L</a:t>
              </a:r>
              <a:r>
                <a:rPr b="1" lang="es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os ataques de ingeniería social se han vuelto cada vez más sofisticados y comunes.</a:t>
              </a:r>
              <a:endParaRPr sz="1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descr="Trozo de cinta adhesiva que pega una nota a la diapositiva" id="114" name="Google Shape;114;p18"/>
          <p:cNvPicPr preferRelativeResize="0"/>
          <p:nvPr/>
        </p:nvPicPr>
        <p:blipFill rotWithShape="1">
          <a:blip r:embed="rId5">
            <a:alphaModFix/>
          </a:blip>
          <a:srcRect b="10011" l="9244" r="2118" t="5926"/>
          <a:stretch/>
        </p:blipFill>
        <p:spPr>
          <a:xfrm rot="154829">
            <a:off x="7413832" y="3069577"/>
            <a:ext cx="991991" cy="35239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283100" y="400875"/>
            <a:ext cx="428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¿Qué es la </a:t>
            </a:r>
            <a:r>
              <a:rPr b="1" lang="es" sz="2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ingeniería</a:t>
            </a:r>
            <a:r>
              <a:rPr b="1" lang="es" sz="2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social?</a:t>
            </a:r>
            <a:endParaRPr b="1" sz="2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121" name="Google Shape;121;p19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Pero ¿Como lo hacen?</a:t>
            </a:r>
            <a:endParaRPr b="1" sz="2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3" name="Google Shape;123;p19"/>
          <p:cNvSpPr txBox="1"/>
          <p:nvPr>
            <p:ph idx="4294967295" type="body"/>
          </p:nvPr>
        </p:nvSpPr>
        <p:spPr>
          <a:xfrm>
            <a:off x="2855550" y="1377475"/>
            <a:ext cx="3550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Ana recibe una gran oferta en su WhatsApp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Para acceder a ella sólo debe rellenar el formulario a través del enlace que le indican</a:t>
            </a:r>
            <a:br>
              <a:rPr lang="es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Ana no duda ni un momento en rellenar el formulario y facilita toda la información que le solicitan</a:t>
            </a:r>
            <a:endParaRPr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Pero, ¿Realmente es una promoción real?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4" name="Google Shape;124;p19" title="Captura de pantalla 2025-04-18 095837.png"/>
          <p:cNvPicPr preferRelativeResize="0"/>
          <p:nvPr/>
        </p:nvPicPr>
        <p:blipFill rotWithShape="1">
          <a:blip r:embed="rId5">
            <a:alphaModFix/>
          </a:blip>
          <a:srcRect b="1650" l="2465" r="2702" t="1262"/>
          <a:stretch/>
        </p:blipFill>
        <p:spPr>
          <a:xfrm>
            <a:off x="391450" y="735900"/>
            <a:ext cx="1996200" cy="372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25" name="Google Shape;125;p19" title="Captura de pantalla 2025-04-18 101116.png"/>
          <p:cNvPicPr preferRelativeResize="0"/>
          <p:nvPr/>
        </p:nvPicPr>
        <p:blipFill rotWithShape="1">
          <a:blip r:embed="rId6">
            <a:alphaModFix/>
          </a:blip>
          <a:srcRect b="0" l="3561" r="2462" t="0"/>
          <a:stretch/>
        </p:blipFill>
        <p:spPr>
          <a:xfrm>
            <a:off x="6807250" y="778225"/>
            <a:ext cx="1996200" cy="372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1487475" y="4540075"/>
            <a:ext cx="6325800" cy="562200"/>
          </a:xfrm>
          <a:prstGeom prst="curvedUpArrow">
            <a:avLst>
              <a:gd fmla="val 25000" name="adj1"/>
              <a:gd fmla="val 43846" name="adj2"/>
              <a:gd fmla="val 28166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 title="ChatGPT Image 18 abr 2025, 10_51_26.png"/>
          <p:cNvPicPr preferRelativeResize="0"/>
          <p:nvPr/>
        </p:nvPicPr>
        <p:blipFill rotWithShape="1">
          <a:blip r:embed="rId3">
            <a:alphaModFix/>
          </a:blip>
          <a:srcRect b="0" l="5602" r="5602" t="0"/>
          <a:stretch/>
        </p:blipFill>
        <p:spPr>
          <a:xfrm>
            <a:off x="-1" y="0"/>
            <a:ext cx="4567199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4832750" y="345600"/>
            <a:ext cx="4033800" cy="47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</a:rPr>
              <a:t>Ataque de smishing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podría haber evitado Ana que robaran dinero de su cuenta?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" sz="1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Desconfiando de descuentos desproporcionados, especialmente si vienen de números desconocidos.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10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" sz="1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Analizando la web a la que le redirigen y no proporcionando con tanta facilidad sus datos.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10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" sz="1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Ambas respuestas son correctas.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 title="ChatGPT Image 18 abr 2025, 10_51_26.png"/>
          <p:cNvPicPr preferRelativeResize="0"/>
          <p:nvPr/>
        </p:nvPicPr>
        <p:blipFill rotWithShape="1">
          <a:blip r:embed="rId3">
            <a:alphaModFix/>
          </a:blip>
          <a:srcRect b="0" l="5602" r="5602" t="0"/>
          <a:stretch/>
        </p:blipFill>
        <p:spPr>
          <a:xfrm>
            <a:off x="0" y="0"/>
            <a:ext cx="45672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4832750" y="345600"/>
            <a:ext cx="4033800" cy="47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Cómo podría haber evitado Ana que robaran dinero de su cuenta?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" sz="1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Desconfiando de descuentos desproporcionados, especialmente si vienen de números desconocidos.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10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" sz="1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Analizando la web a la que le redirigen y no proporcionando con tanta facilidad sus datos.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10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10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50"/>
              <a:buFont typeface="Arial"/>
              <a:buChar char="★"/>
            </a:pPr>
            <a:r>
              <a:rPr lang="es" sz="165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Ambas respuestas son correctas.</a:t>
            </a:r>
            <a:endParaRPr sz="2000" u="sng">
              <a:solidFill>
                <a:schemeClr val="accent5"/>
              </a:solidFill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832750" y="1874300"/>
            <a:ext cx="4033800" cy="2144400"/>
          </a:xfrm>
          <a:prstGeom prst="wave">
            <a:avLst>
              <a:gd fmla="val 4597" name="adj1"/>
              <a:gd fmla="val -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</a:rPr>
              <a:t>¡</a:t>
            </a:r>
            <a:r>
              <a:rPr b="1" lang="es" sz="1350">
                <a:solidFill>
                  <a:schemeClr val="dk1"/>
                </a:solidFill>
              </a:rPr>
              <a:t>Exacto</a:t>
            </a:r>
            <a:r>
              <a:rPr lang="es" sz="1350">
                <a:solidFill>
                  <a:schemeClr val="dk1"/>
                </a:solidFill>
              </a:rPr>
              <a:t>!</a:t>
            </a:r>
            <a:br>
              <a:rPr lang="es" sz="1150">
                <a:solidFill>
                  <a:schemeClr val="dk1"/>
                </a:solidFill>
              </a:rPr>
            </a:br>
            <a:r>
              <a:rPr lang="es" sz="1150">
                <a:solidFill>
                  <a:schemeClr val="dk1"/>
                </a:solidFill>
              </a:rPr>
              <a:t>Ambos consejos son muy valiosos para evitar sustos. Debemos desconfiar de descuentos desproporcionados, de números o remitentes desconocidos, analizar el enlace y la web antes de hacer clic y, ante la duda, nunca introducir nuestros datos</a:t>
            </a:r>
            <a:endParaRPr sz="6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832750" y="520050"/>
            <a:ext cx="4033800" cy="42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</a:rPr>
              <a:t>Smishing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Como le ha ocurrido a Ana, los atacantes pueden contactarnos a través de SMS, </a:t>
            </a:r>
            <a:r>
              <a:rPr lang="es" sz="1800">
                <a:solidFill>
                  <a:schemeClr val="dk1"/>
                </a:solidFill>
              </a:rPr>
              <a:t>mensajería</a:t>
            </a:r>
            <a:r>
              <a:rPr lang="es" sz="1800">
                <a:solidFill>
                  <a:schemeClr val="dk1"/>
                </a:solidFill>
              </a:rPr>
              <a:t> instantánea o redes sociales para engañarnos.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Por ello, hay que desconfiar de mensajes de desconocidos y no clicar en ningún enlace si no sabemos con certeza a dónde nos redirige.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5" name="Google Shape;145;p22" title="ChatGPT Image 18 abr 2025, 10_51_26.png"/>
          <p:cNvPicPr preferRelativeResize="0"/>
          <p:nvPr/>
        </p:nvPicPr>
        <p:blipFill rotWithShape="1">
          <a:blip r:embed="rId3">
            <a:alphaModFix/>
          </a:blip>
          <a:srcRect b="0" l="5602" r="5602" t="0"/>
          <a:stretch/>
        </p:blipFill>
        <p:spPr>
          <a:xfrm>
            <a:off x="0" y="0"/>
            <a:ext cx="45672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idx="4294967295" type="subTitle"/>
          </p:nvPr>
        </p:nvSpPr>
        <p:spPr>
          <a:xfrm>
            <a:off x="265500" y="344250"/>
            <a:ext cx="4045200" cy="43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</a:rPr>
              <a:t>Vishing</a:t>
            </a:r>
            <a:r>
              <a:rPr b="1" lang="es" sz="3000">
                <a:solidFill>
                  <a:schemeClr val="dk1"/>
                </a:solidFill>
              </a:rPr>
              <a:t>.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Otro peligroso ataque es el conocido como Vishing en el que un delincuente, haciéndose pasar por alguien de una entidad conocida, llama para pedirnos información confidencial (como claves o datos bancarios).</a:t>
            </a:r>
            <a:br>
              <a:rPr lang="es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protegernos, lo mejor es desconfiar de las llamadas en las que nos solicitan información de este tipo y ante la duda, no proporcionarla y contactar con el servicio que dice ser por otro medio.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/>
          </a:blip>
          <a:srcRect b="20862" l="1729" r="0" t="6746"/>
          <a:stretch/>
        </p:blipFill>
        <p:spPr>
          <a:xfrm>
            <a:off x="4488725" y="0"/>
            <a:ext cx="4655272" cy="51435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23"/>
          <p:cNvGrpSpPr/>
          <p:nvPr/>
        </p:nvGrpSpPr>
        <p:grpSpPr>
          <a:xfrm>
            <a:off x="6759875" y="3269060"/>
            <a:ext cx="2212050" cy="1604136"/>
            <a:chOff x="6803287" y="242963"/>
            <a:chExt cx="2212050" cy="1604136"/>
          </a:xfrm>
        </p:grpSpPr>
        <p:pic>
          <p:nvPicPr>
            <p:cNvPr id="153" name="Google Shape;15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87" y="427449"/>
              <a:ext cx="2212050" cy="14196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rozo de cinta adhesiva que pega una nota a la diapositiva" id="154" name="Google Shape;154;p23"/>
            <p:cNvPicPr preferRelativeResize="0"/>
            <p:nvPr/>
          </p:nvPicPr>
          <p:blipFill rotWithShape="1">
            <a:blip r:embed="rId5">
              <a:alphaModFix/>
            </a:blip>
            <a:srcRect b="10011" l="9244" r="2118" t="5926"/>
            <a:stretch/>
          </p:blipFill>
          <p:spPr>
            <a:xfrm rot="154826">
              <a:off x="7370663" y="2670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23"/>
            <p:cNvSpPr txBox="1"/>
            <p:nvPr/>
          </p:nvSpPr>
          <p:spPr>
            <a:xfrm>
              <a:off x="6944812" y="572977"/>
              <a:ext cx="1929000" cy="11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Por suerte, existen “técnicas” para evitar caer en estos engaños</a:t>
              </a:r>
              <a:endParaRPr sz="1700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t/>
              </a:r>
              <a:endParaRPr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 title="baiting.jpg"/>
          <p:cNvPicPr preferRelativeResize="0"/>
          <p:nvPr/>
        </p:nvPicPr>
        <p:blipFill rotWithShape="1">
          <a:blip r:embed="rId3">
            <a:alphaModFix/>
          </a:blip>
          <a:srcRect b="0" l="23886" r="26963" t="0"/>
          <a:stretch/>
        </p:blipFill>
        <p:spPr>
          <a:xfrm>
            <a:off x="3151975" y="0"/>
            <a:ext cx="59920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/>
          <p:nvPr/>
        </p:nvSpPr>
        <p:spPr>
          <a:xfrm>
            <a:off x="283000" y="297900"/>
            <a:ext cx="4547700" cy="4547700"/>
          </a:xfrm>
          <a:prstGeom prst="rect">
            <a:avLst/>
          </a:prstGeom>
          <a:solidFill>
            <a:srgbClr val="000000">
              <a:alpha val="76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 txBox="1"/>
          <p:nvPr>
            <p:ph idx="4294967295" type="body"/>
          </p:nvPr>
        </p:nvSpPr>
        <p:spPr>
          <a:xfrm>
            <a:off x="481300" y="529650"/>
            <a:ext cx="4151100" cy="40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lt1"/>
                </a:solidFill>
              </a:rPr>
              <a:t>Baiting</a:t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El baiting es otra amenaza en la que el cebo es un USB u otro dispositivo que infecta nuestro equipo cuando lo conectamos.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De ahí la importancia de </a:t>
            </a:r>
            <a:r>
              <a:rPr b="1" lang="es">
                <a:solidFill>
                  <a:schemeClr val="lt1"/>
                </a:solidFill>
              </a:rPr>
              <a:t>no conectar dispositivos desconocidos</a:t>
            </a:r>
            <a:r>
              <a:rPr lang="es">
                <a:solidFill>
                  <a:schemeClr val="lt1"/>
                </a:solidFill>
              </a:rPr>
              <a:t> en nuestros equipos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Phishing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</a:rPr>
              <a:t>Seguramente lo hayas oído en los medios de comunicación ya que es uno de los ataques que más sufren usuarios y empresas en todo el mundo. </a:t>
            </a:r>
            <a:endParaRPr sz="3000">
              <a:solidFill>
                <a:schemeClr val="lt1"/>
              </a:solidFill>
            </a:endParaRPr>
          </a:p>
        </p:txBody>
      </p:sp>
      <p:grpSp>
        <p:nvGrpSpPr>
          <p:cNvPr id="169" name="Google Shape;169;p25"/>
          <p:cNvGrpSpPr/>
          <p:nvPr/>
        </p:nvGrpSpPr>
        <p:grpSpPr>
          <a:xfrm>
            <a:off x="6781400" y="2692645"/>
            <a:ext cx="2212050" cy="2129621"/>
            <a:chOff x="6803275" y="667700"/>
            <a:chExt cx="2212050" cy="2537076"/>
          </a:xfrm>
        </p:grpSpPr>
        <p:pic>
          <p:nvPicPr>
            <p:cNvPr id="170" name="Google Shape;170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699782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rozo de cinta adhesiva que pega una nota a la diapositiva" id="171" name="Google Shape;171;p25"/>
            <p:cNvPicPr preferRelativeResize="0"/>
            <p:nvPr/>
          </p:nvPicPr>
          <p:blipFill rotWithShape="1">
            <a:blip r:embed="rId5">
              <a:alphaModFix/>
            </a:blip>
            <a:srcRect b="10011" l="9244" r="2118" t="5926"/>
            <a:stretch/>
          </p:blipFill>
          <p:spPr>
            <a:xfrm rot="154826">
              <a:off x="7370663" y="691756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5"/>
            <p:cNvSpPr txBox="1"/>
            <p:nvPr/>
          </p:nvSpPr>
          <p:spPr>
            <a:xfrm>
              <a:off x="6944800" y="956568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700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Curiosidad</a:t>
              </a:r>
              <a:endParaRPr b="1" sz="1700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endParaRPr>
            </a:p>
            <a:p>
              <a:pPr indent="0" lvl="0" marL="0" rtl="0" algn="just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De hecho, según los datos del 2024, diariamente se envían un total de 3400 millones de correos </a:t>
              </a:r>
              <a:r>
                <a:rPr lang="es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electrónicos</a:t>
              </a:r>
              <a:r>
                <a:rPr lang="es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 de tipo </a:t>
              </a:r>
              <a:r>
                <a:rPr lang="es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phishing</a:t>
              </a:r>
              <a:r>
                <a:rPr lang="es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.</a:t>
              </a:r>
              <a:endParaRPr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6" title="to-hack-7109362_1280.png"/>
          <p:cNvPicPr preferRelativeResize="0"/>
          <p:nvPr/>
        </p:nvPicPr>
        <p:blipFill rotWithShape="1">
          <a:blip r:embed="rId3">
            <a:alphaModFix/>
          </a:blip>
          <a:srcRect b="10014" l="0" r="38710" t="16778"/>
          <a:stretch/>
        </p:blipFill>
        <p:spPr>
          <a:xfrm>
            <a:off x="3135075" y="-43200"/>
            <a:ext cx="6019626" cy="518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>
            <p:ph type="title"/>
          </p:nvPr>
        </p:nvSpPr>
        <p:spPr>
          <a:xfrm>
            <a:off x="283100" y="1354275"/>
            <a:ext cx="3909600" cy="3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b="0" lang="es" sz="1900">
                <a:solidFill>
                  <a:schemeClr val="dk2"/>
                </a:solidFill>
              </a:rPr>
              <a:t>En un ataque Phising, el ciberdelincuente intenta </a:t>
            </a:r>
            <a:br>
              <a:rPr b="0" lang="es" sz="1900">
                <a:solidFill>
                  <a:schemeClr val="dk2"/>
                </a:solidFill>
              </a:rPr>
            </a:br>
            <a:r>
              <a:rPr b="0" lang="es" sz="1900">
                <a:solidFill>
                  <a:schemeClr val="dk2"/>
                </a:solidFill>
              </a:rPr>
              <a:t>engañarte mediante el correo electrónico.</a:t>
            </a:r>
            <a:br>
              <a:rPr b="0" lang="es" sz="1900">
                <a:solidFill>
                  <a:schemeClr val="dk2"/>
                </a:solidFill>
              </a:rPr>
            </a:br>
            <a:br>
              <a:rPr b="0" lang="es" sz="1900">
                <a:solidFill>
                  <a:schemeClr val="dk2"/>
                </a:solidFill>
              </a:rPr>
            </a:br>
            <a:r>
              <a:rPr b="0" lang="es" sz="1900">
                <a:solidFill>
                  <a:schemeClr val="dk2"/>
                </a:solidFill>
              </a:rPr>
              <a:t>Además, a menudo se hace </a:t>
            </a:r>
            <a:br>
              <a:rPr b="0" lang="es" sz="1900">
                <a:solidFill>
                  <a:schemeClr val="dk2"/>
                </a:solidFill>
              </a:rPr>
            </a:br>
            <a:r>
              <a:rPr b="0" lang="es" sz="1900">
                <a:solidFill>
                  <a:schemeClr val="dk2"/>
                </a:solidFill>
              </a:rPr>
              <a:t>pasar por alguien de tu confianza para ganar credibilidad; ya sea tu banco, una red social, organismos públicos, la propia organización en la que trabajas o incluso tu jefe.</a:t>
            </a:r>
            <a:endParaRPr b="0" sz="2200" u="sng">
              <a:solidFill>
                <a:schemeClr val="dk2"/>
              </a:solidFill>
            </a:endParaRPr>
          </a:p>
        </p:txBody>
      </p:sp>
      <p:grpSp>
        <p:nvGrpSpPr>
          <p:cNvPr id="179" name="Google Shape;179;p26"/>
          <p:cNvGrpSpPr/>
          <p:nvPr/>
        </p:nvGrpSpPr>
        <p:grpSpPr>
          <a:xfrm>
            <a:off x="7021100" y="2574856"/>
            <a:ext cx="2038449" cy="2502919"/>
            <a:chOff x="7042987" y="506184"/>
            <a:chExt cx="2038449" cy="2502919"/>
          </a:xfrm>
        </p:grpSpPr>
        <p:pic>
          <p:nvPicPr>
            <p:cNvPr id="180" name="Google Shape;180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42987" y="553178"/>
              <a:ext cx="2038449" cy="2455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rozo de cinta adhesiva que pega una nota a la diapositiva" id="181" name="Google Shape;181;p26"/>
            <p:cNvPicPr preferRelativeResize="0"/>
            <p:nvPr/>
          </p:nvPicPr>
          <p:blipFill rotWithShape="1">
            <a:blip r:embed="rId5">
              <a:alphaModFix/>
            </a:blip>
            <a:srcRect b="10011" l="9244" r="2118" t="5926"/>
            <a:stretch/>
          </p:blipFill>
          <p:spPr>
            <a:xfrm rot="164699">
              <a:off x="7577897" y="529214"/>
              <a:ext cx="968645" cy="3659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6"/>
            <p:cNvSpPr txBox="1"/>
            <p:nvPr/>
          </p:nvSpPr>
          <p:spPr>
            <a:xfrm>
              <a:off x="7170212" y="862003"/>
              <a:ext cx="1825800" cy="21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¡Cuidado!</a:t>
              </a:r>
              <a:endParaRPr sz="1200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endParaRPr>
            </a:p>
            <a:p>
              <a:pPr indent="0" lvl="0" marL="0" rtl="0" algn="just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200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Suelen solicitar que hagas clic en algún enlace o que descargues un archivo en el que te piden que introduzcas datos personales o corporativos como contraseñas, números de teléfono, DNI o CIF e incluso datos bancarios</a:t>
              </a:r>
              <a:r>
                <a:rPr lang="es" sz="1200">
                  <a:solidFill>
                    <a:schemeClr val="dk2"/>
                  </a:solidFill>
                  <a:latin typeface="Caveat"/>
                  <a:ea typeface="Caveat"/>
                  <a:cs typeface="Caveat"/>
                  <a:sym typeface="Caveat"/>
                </a:rPr>
                <a:t>.</a:t>
              </a:r>
              <a:endParaRPr sz="1200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sp>
        <p:nvSpPr>
          <p:cNvPr id="183" name="Google Shape;183;p26"/>
          <p:cNvSpPr txBox="1"/>
          <p:nvPr/>
        </p:nvSpPr>
        <p:spPr>
          <a:xfrm>
            <a:off x="283100" y="368350"/>
            <a:ext cx="65856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Pero, ¿en qué consiste esta </a:t>
            </a:r>
            <a:endParaRPr b="1" sz="19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amenaza exactamente?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283100" y="26350"/>
            <a:ext cx="86205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300">
                <a:solidFill>
                  <a:schemeClr val="dk2"/>
                </a:solidFill>
              </a:rPr>
              <a:t>¿Cómo protegerte del phishing?</a:t>
            </a:r>
            <a:endParaRPr sz="4300">
              <a:solidFill>
                <a:schemeClr val="dk2"/>
              </a:solidFill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371775" y="845900"/>
            <a:ext cx="21666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5115426" y="845900"/>
            <a:ext cx="22500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/>
          <p:nvPr/>
        </p:nvSpPr>
        <p:spPr>
          <a:xfrm>
            <a:off x="2774398" y="808950"/>
            <a:ext cx="21051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7"/>
          <p:cNvSpPr txBox="1"/>
          <p:nvPr>
            <p:ph type="title"/>
          </p:nvPr>
        </p:nvSpPr>
        <p:spPr>
          <a:xfrm>
            <a:off x="2833493" y="903750"/>
            <a:ext cx="19869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Activa las alarmas si te infunden prisa o miedo.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Nunca contestes correos sospechosos ni los reenvíes.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93" name="Google Shape;193;p27"/>
          <p:cNvSpPr txBox="1"/>
          <p:nvPr>
            <p:ph type="title"/>
          </p:nvPr>
        </p:nvSpPr>
        <p:spPr>
          <a:xfrm>
            <a:off x="434565" y="903749"/>
            <a:ext cx="20448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es" sz="1180">
                <a:solidFill>
                  <a:schemeClr val="dk1"/>
                </a:solidFill>
              </a:rPr>
              <a:t>Revisa detenidamente la dirección del remitente de todos los correos que recibas. Si son desconocidos o si contienen algún </a:t>
            </a:r>
            <a:r>
              <a:rPr lang="es" sz="1180">
                <a:solidFill>
                  <a:schemeClr val="dk1"/>
                </a:solidFill>
              </a:rPr>
              <a:t>carácter</a:t>
            </a:r>
            <a:r>
              <a:rPr lang="es" sz="1180">
                <a:solidFill>
                  <a:schemeClr val="dk1"/>
                </a:solidFill>
              </a:rPr>
              <a:t> extraño… Desconfía.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5180625" y="903750"/>
            <a:ext cx="21051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Ante la duda, contacta con esa persona o entidad por otro medio y comprueba si realmente ha enviado ese correo, no descargues adjuntos al correo.</a:t>
            </a:r>
            <a:endParaRPr b="0" sz="900">
              <a:solidFill>
                <a:schemeClr val="dk1"/>
              </a:solidFill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3536398" y="2866350"/>
            <a:ext cx="21051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3595493" y="2961150"/>
            <a:ext cx="19869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Sospecha de saludos genéricos o si el mensaje contiene errores de redacción.</a:t>
            </a:r>
            <a:r>
              <a:rPr lang="es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1209975" y="2903300"/>
            <a:ext cx="20379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 txBox="1"/>
          <p:nvPr>
            <p:ph type="title"/>
          </p:nvPr>
        </p:nvSpPr>
        <p:spPr>
          <a:xfrm>
            <a:off x="1269033" y="2961149"/>
            <a:ext cx="19233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Si te solicitan información sensible, nunca la proporciones y evita registrarte en servicios personales con tu dirección de correo corporativo. 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5953625" y="2866350"/>
            <a:ext cx="2250000" cy="1815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 txBox="1"/>
          <p:nvPr>
            <p:ph type="title"/>
          </p:nvPr>
        </p:nvSpPr>
        <p:spPr>
          <a:xfrm>
            <a:off x="6018825" y="2961150"/>
            <a:ext cx="21051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Antes de hacer clic en un botón o enlace, pasa el cursor por encima (</a:t>
            </a:r>
            <a:r>
              <a:rPr lang="e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¡sin hacer clic!)</a:t>
            </a:r>
            <a:r>
              <a:rPr lang="es" sz="1300">
                <a:solidFill>
                  <a:schemeClr val="dk1"/>
                </a:solidFill>
              </a:rPr>
              <a:t> y observa a dónde te redirige. </a:t>
            </a:r>
            <a:endParaRPr b="0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8" title="passwords-10x10-FB.jpg"/>
          <p:cNvPicPr preferRelativeResize="0"/>
          <p:nvPr/>
        </p:nvPicPr>
        <p:blipFill rotWithShape="1">
          <a:blip r:embed="rId3">
            <a:alphaModFix/>
          </a:blip>
          <a:srcRect b="0" l="3314" r="1447" t="0"/>
          <a:stretch/>
        </p:blipFill>
        <p:spPr>
          <a:xfrm>
            <a:off x="4247325" y="-5400"/>
            <a:ext cx="4896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 txBox="1"/>
          <p:nvPr>
            <p:ph idx="4294967295" type="title"/>
          </p:nvPr>
        </p:nvSpPr>
        <p:spPr>
          <a:xfrm>
            <a:off x="265500" y="754200"/>
            <a:ext cx="4045200" cy="36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800"/>
              <a:t>Por </a:t>
            </a:r>
            <a:r>
              <a:rPr b="0" lang="es" sz="1800"/>
              <a:t>último.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/>
              <a:t>Gestionar contraseñas de forma segura y adoptar buenas prácticas de navegación en internet</a:t>
            </a:r>
            <a:endParaRPr sz="4200"/>
          </a:p>
        </p:txBody>
      </p:sp>
      <p:grpSp>
        <p:nvGrpSpPr>
          <p:cNvPr id="207" name="Google Shape;207;p28"/>
          <p:cNvGrpSpPr/>
          <p:nvPr/>
        </p:nvGrpSpPr>
        <p:grpSpPr>
          <a:xfrm>
            <a:off x="6857588" y="2540235"/>
            <a:ext cx="2212050" cy="2537076"/>
            <a:chOff x="6803275" y="395363"/>
            <a:chExt cx="2212050" cy="2537076"/>
          </a:xfrm>
        </p:grpSpPr>
        <p:pic>
          <p:nvPicPr>
            <p:cNvPr id="208" name="Google Shape;208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rozo de cinta adhesiva que pega una nota a la diapositiva" id="209" name="Google Shape;209;p28"/>
            <p:cNvPicPr preferRelativeResize="0"/>
            <p:nvPr/>
          </p:nvPicPr>
          <p:blipFill rotWithShape="1">
            <a:blip r:embed="rId5">
              <a:alphaModFix/>
            </a:blip>
            <a:srcRect b="10011" l="9244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8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Consejo</a:t>
              </a:r>
              <a:endParaRPr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En un mundo cada vez más digitalizado, la seguridad en </a:t>
              </a:r>
              <a:r>
                <a:rPr lang="es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línea</a:t>
              </a:r>
              <a:r>
                <a:rPr lang="es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 es fundamental para proteger nuestra información personal y profesional. 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9496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9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216" name="Google Shape;216;p29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9">
            <a:off x="6554988" y="149635"/>
            <a:ext cx="872375" cy="30343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9"/>
          <p:cNvSpPr txBox="1"/>
          <p:nvPr>
            <p:ph idx="4294967295" type="body"/>
          </p:nvPr>
        </p:nvSpPr>
        <p:spPr>
          <a:xfrm>
            <a:off x="5229875" y="2028025"/>
            <a:ext cx="3522600" cy="26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latin typeface="Raleway"/>
                <a:ea typeface="Raleway"/>
                <a:cs typeface="Raleway"/>
                <a:sym typeface="Raleway"/>
              </a:rPr>
              <a:t>Y es que las contraseñas son las llaves que protegen tu vida digital. </a:t>
            </a:r>
            <a:br>
              <a:rPr lang="es" sz="1200">
                <a:latin typeface="Raleway"/>
                <a:ea typeface="Raleway"/>
                <a:cs typeface="Raleway"/>
                <a:sym typeface="Raleway"/>
              </a:rPr>
            </a:br>
            <a:br>
              <a:rPr lang="es" sz="120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Piensa que, cada día accedes a  muchos servicios (redes sociales, banca electrónica, correo, compras, dispositivos personales o tu equipo corporativo) que requieren de una clave.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Si alguien las adivinase, podría suplantar tu identidad, realizar compras o transacciones en tu nombre, comprometer información corporativa…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18" name="Google Shape;218;p29" title="Captura de pantalla 2025-04-18 124035.png"/>
          <p:cNvPicPr preferRelativeResize="0"/>
          <p:nvPr/>
        </p:nvPicPr>
        <p:blipFill rotWithShape="1">
          <a:blip r:embed="rId5">
            <a:alphaModFix/>
          </a:blip>
          <a:srcRect b="4070" l="14531" r="13814" t="3831"/>
          <a:stretch/>
        </p:blipFill>
        <p:spPr>
          <a:xfrm>
            <a:off x="688000" y="249050"/>
            <a:ext cx="3522600" cy="232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19" name="Google Shape;219;p29" title="Captura de pantalla 2025-04-18 124321.png"/>
          <p:cNvPicPr preferRelativeResize="0"/>
          <p:nvPr/>
        </p:nvPicPr>
        <p:blipFill rotWithShape="1">
          <a:blip r:embed="rId6">
            <a:alphaModFix/>
          </a:blip>
          <a:srcRect b="0" l="3249" r="3361" t="-2448"/>
          <a:stretch/>
        </p:blipFill>
        <p:spPr>
          <a:xfrm>
            <a:off x="581125" y="2592350"/>
            <a:ext cx="3747600" cy="23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>
            <p:ph idx="4294967295" type="body"/>
          </p:nvPr>
        </p:nvSpPr>
        <p:spPr>
          <a:xfrm>
            <a:off x="5217750" y="494250"/>
            <a:ext cx="3522600" cy="14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latin typeface="Raleway"/>
                <a:ea typeface="Raleway"/>
                <a:cs typeface="Raleway"/>
                <a:sym typeface="Raleway"/>
              </a:rPr>
              <a:t>Una contraseña sencilla. ¿Es la mejor opción?</a:t>
            </a:r>
            <a:endParaRPr b="1"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br>
              <a:rPr lang="es" sz="120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Un hacker puede descifrar una contraseña como 1234 en menos de un minuto.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42400" y="1972000"/>
            <a:ext cx="569400" cy="11742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0" title="key-1013662_128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/>
          <p:nvPr/>
        </p:nvSpPr>
        <p:spPr>
          <a:xfrm>
            <a:off x="498125" y="450675"/>
            <a:ext cx="3783300" cy="510000"/>
          </a:xfrm>
          <a:prstGeom prst="rect">
            <a:avLst/>
          </a:prstGeom>
          <a:solidFill>
            <a:srgbClr val="FFD1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latin typeface="Lato"/>
                <a:ea typeface="Lato"/>
                <a:cs typeface="Lato"/>
                <a:sym typeface="Lato"/>
              </a:rPr>
              <a:t>Una contraseña robusta debe:</a:t>
            </a:r>
            <a:endParaRPr sz="21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28" name="Google Shape;228;p30"/>
          <p:cNvGrpSpPr/>
          <p:nvPr/>
        </p:nvGrpSpPr>
        <p:grpSpPr>
          <a:xfrm rot="2700000">
            <a:off x="732073" y="3200043"/>
            <a:ext cx="2460276" cy="2460276"/>
            <a:chOff x="6254516" y="1318143"/>
            <a:chExt cx="2460300" cy="2460300"/>
          </a:xfrm>
        </p:grpSpPr>
        <p:sp>
          <p:nvSpPr>
            <p:cNvPr id="229" name="Google Shape;229;p30"/>
            <p:cNvSpPr/>
            <p:nvPr/>
          </p:nvSpPr>
          <p:spPr>
            <a:xfrm rot="2700000">
              <a:off x="7239866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0"/>
            <p:cNvSpPr/>
            <p:nvPr/>
          </p:nvSpPr>
          <p:spPr>
            <a:xfrm rot="-2700000">
              <a:off x="6443995" y="3255432"/>
              <a:ext cx="326259" cy="3262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307AF3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900">
                <a:solidFill>
                  <a:srgbClr val="307A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" name="Google Shape;231;p30"/>
            <p:cNvSpPr txBox="1"/>
            <p:nvPr/>
          </p:nvSpPr>
          <p:spPr>
            <a:xfrm rot="-2700000">
              <a:off x="6375763" y="2297099"/>
              <a:ext cx="2378424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Ser diferente entre el ámbito personal y el corporativo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" name="Google Shape;232;p30"/>
          <p:cNvGrpSpPr/>
          <p:nvPr/>
        </p:nvGrpSpPr>
        <p:grpSpPr>
          <a:xfrm rot="2700000">
            <a:off x="743103" y="2525274"/>
            <a:ext cx="2460276" cy="2460276"/>
            <a:chOff x="4761418" y="1318143"/>
            <a:chExt cx="2460300" cy="2460300"/>
          </a:xfrm>
        </p:grpSpPr>
        <p:sp>
          <p:nvSpPr>
            <p:cNvPr id="233" name="Google Shape;233;p30"/>
            <p:cNvSpPr/>
            <p:nvPr/>
          </p:nvSpPr>
          <p:spPr>
            <a:xfrm rot="2700000">
              <a:off x="5746767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0"/>
            <p:cNvSpPr/>
            <p:nvPr/>
          </p:nvSpPr>
          <p:spPr>
            <a:xfrm rot="-2700000">
              <a:off x="4950896" y="3255432"/>
              <a:ext cx="326259" cy="3262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0E63F0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900">
                <a:solidFill>
                  <a:srgbClr val="0E6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5" name="Google Shape;235;p30"/>
            <p:cNvSpPr txBox="1"/>
            <p:nvPr/>
          </p:nvSpPr>
          <p:spPr>
            <a:xfrm rot="-2700000">
              <a:off x="48964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Ser diferente para cada servicio que utilices.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6" name="Google Shape;236;p30"/>
          <p:cNvGrpSpPr/>
          <p:nvPr/>
        </p:nvGrpSpPr>
        <p:grpSpPr>
          <a:xfrm rot="2700000">
            <a:off x="734025" y="1673906"/>
            <a:ext cx="2604497" cy="2460276"/>
            <a:chOff x="3269751" y="1318143"/>
            <a:chExt cx="2604522" cy="2460300"/>
          </a:xfrm>
        </p:grpSpPr>
        <p:sp>
          <p:nvSpPr>
            <p:cNvPr id="237" name="Google Shape;237;p30"/>
            <p:cNvSpPr/>
            <p:nvPr/>
          </p:nvSpPr>
          <p:spPr>
            <a:xfrm rot="2700000">
              <a:off x="4255100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0"/>
            <p:cNvSpPr/>
            <p:nvPr/>
          </p:nvSpPr>
          <p:spPr>
            <a:xfrm rot="-2700000">
              <a:off x="3459230" y="3255432"/>
              <a:ext cx="326259" cy="3262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0D5CD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900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" name="Google Shape;239;p30"/>
            <p:cNvSpPr txBox="1"/>
            <p:nvPr/>
          </p:nvSpPr>
          <p:spPr>
            <a:xfrm rot="-2700000">
              <a:off x="34047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 debe contener </a:t>
              </a:r>
              <a:r>
                <a:rPr b="1"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información</a:t>
              </a:r>
              <a:r>
                <a:rPr b="1"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personal.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0" name="Google Shape;240;p30"/>
            <p:cNvSpPr txBox="1"/>
            <p:nvPr/>
          </p:nvSpPr>
          <p:spPr>
            <a:xfrm rot="-2700000">
              <a:off x="3803593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" sz="800">
                  <a:latin typeface="Roboto"/>
                  <a:ea typeface="Roboto"/>
                  <a:cs typeface="Roboto"/>
                  <a:sym typeface="Roboto"/>
                </a:rPr>
                <a:t>Como la fecha de cumpleaños, del aniversario o nombre de la organización.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1" name="Google Shape;241;p30"/>
          <p:cNvGrpSpPr/>
          <p:nvPr/>
        </p:nvGrpSpPr>
        <p:grpSpPr>
          <a:xfrm rot="2700000">
            <a:off x="766157" y="871927"/>
            <a:ext cx="2460276" cy="2460276"/>
            <a:chOff x="1776626" y="1318143"/>
            <a:chExt cx="2460300" cy="2460300"/>
          </a:xfrm>
        </p:grpSpPr>
        <p:grpSp>
          <p:nvGrpSpPr>
            <p:cNvPr id="242" name="Google Shape;242;p30"/>
            <p:cNvGrpSpPr/>
            <p:nvPr/>
          </p:nvGrpSpPr>
          <p:grpSpPr>
            <a:xfrm>
              <a:off x="1776626" y="1318143"/>
              <a:ext cx="2460300" cy="2460300"/>
              <a:chOff x="1776626" y="1318143"/>
              <a:chExt cx="2460300" cy="2460300"/>
            </a:xfrm>
          </p:grpSpPr>
          <p:sp>
            <p:nvSpPr>
              <p:cNvPr id="243" name="Google Shape;243;p30"/>
              <p:cNvSpPr/>
              <p:nvPr/>
            </p:nvSpPr>
            <p:spPr>
              <a:xfrm rot="2700000">
                <a:off x="2761975" y="1053398"/>
                <a:ext cx="489601" cy="2989789"/>
              </a:xfrm>
              <a:prstGeom prst="roundRect">
                <a:avLst>
                  <a:gd fmla="val 50000" name="adj"/>
                </a:avLst>
              </a:prstGeom>
              <a:solidFill>
                <a:srgbClr val="0C57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30"/>
              <p:cNvSpPr txBox="1"/>
              <p:nvPr/>
            </p:nvSpPr>
            <p:spPr>
              <a:xfrm rot="-2700000">
                <a:off x="1899549" y="2297849"/>
                <a:ext cx="2376303" cy="342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1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Mezclar mayúsculas, minúsculas, números y caracteres especiales.</a:t>
                </a:r>
                <a:endParaRPr b="1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45" name="Google Shape;245;p30"/>
            <p:cNvSpPr/>
            <p:nvPr/>
          </p:nvSpPr>
          <p:spPr>
            <a:xfrm rot="-2700000">
              <a:off x="1966105" y="3255432"/>
              <a:ext cx="326259" cy="3262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30"/>
          <p:cNvGrpSpPr/>
          <p:nvPr/>
        </p:nvGrpSpPr>
        <p:grpSpPr>
          <a:xfrm rot="2700000">
            <a:off x="778199" y="198170"/>
            <a:ext cx="2460276" cy="2460276"/>
            <a:chOff x="284959" y="1318143"/>
            <a:chExt cx="2460300" cy="2460300"/>
          </a:xfrm>
        </p:grpSpPr>
        <p:sp>
          <p:nvSpPr>
            <p:cNvPr id="247" name="Google Shape;247;p30"/>
            <p:cNvSpPr/>
            <p:nvPr/>
          </p:nvSpPr>
          <p:spPr>
            <a:xfrm rot="2700000">
              <a:off x="1270309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0"/>
            <p:cNvSpPr/>
            <p:nvPr/>
          </p:nvSpPr>
          <p:spPr>
            <a:xfrm rot="-2700000">
              <a:off x="472988" y="3255432"/>
              <a:ext cx="326259" cy="3262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0942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900">
                <a:solidFill>
                  <a:srgbClr val="0942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" name="Google Shape;249;p30"/>
            <p:cNvSpPr txBox="1"/>
            <p:nvPr/>
          </p:nvSpPr>
          <p:spPr>
            <a:xfrm rot="-2700000">
              <a:off x="414317" y="2300549"/>
              <a:ext cx="2368666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Ser larga (12 caracteres mínimo).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0" name="Google Shape;250;p30"/>
          <p:cNvSpPr/>
          <p:nvPr/>
        </p:nvSpPr>
        <p:spPr>
          <a:xfrm>
            <a:off x="4917725" y="450675"/>
            <a:ext cx="3783300" cy="510000"/>
          </a:xfrm>
          <a:prstGeom prst="rect">
            <a:avLst/>
          </a:prstGeom>
          <a:solidFill>
            <a:srgbClr val="FFD1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latin typeface="Lato"/>
                <a:ea typeface="Lato"/>
                <a:cs typeface="Lato"/>
                <a:sym typeface="Lato"/>
              </a:rPr>
              <a:t>Mantén</a:t>
            </a:r>
            <a:r>
              <a:rPr lang="es" sz="2100">
                <a:latin typeface="Lato"/>
                <a:ea typeface="Lato"/>
                <a:cs typeface="Lato"/>
                <a:sym typeface="Lato"/>
              </a:rPr>
              <a:t> tu contraseña segura</a:t>
            </a:r>
            <a:r>
              <a:rPr lang="es" sz="2100">
                <a:latin typeface="Lato"/>
                <a:ea typeface="Lato"/>
                <a:cs typeface="Lato"/>
                <a:sym typeface="Lato"/>
              </a:rPr>
              <a:t>:</a:t>
            </a:r>
            <a:endParaRPr sz="21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1" name="Google Shape;251;p30"/>
          <p:cNvGrpSpPr/>
          <p:nvPr/>
        </p:nvGrpSpPr>
        <p:grpSpPr>
          <a:xfrm rot="2700000">
            <a:off x="5534625" y="2816906"/>
            <a:ext cx="2604497" cy="2460276"/>
            <a:chOff x="3269751" y="1318143"/>
            <a:chExt cx="2604522" cy="2460300"/>
          </a:xfrm>
        </p:grpSpPr>
        <p:sp>
          <p:nvSpPr>
            <p:cNvPr id="252" name="Google Shape;252;p30"/>
            <p:cNvSpPr/>
            <p:nvPr/>
          </p:nvSpPr>
          <p:spPr>
            <a:xfrm rot="2700000">
              <a:off x="4255100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0"/>
            <p:cNvSpPr/>
            <p:nvPr/>
          </p:nvSpPr>
          <p:spPr>
            <a:xfrm rot="-2700000">
              <a:off x="3459230" y="3255432"/>
              <a:ext cx="326259" cy="3262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0D5CD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900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" name="Google Shape;254;p30"/>
            <p:cNvSpPr txBox="1"/>
            <p:nvPr/>
          </p:nvSpPr>
          <p:spPr>
            <a:xfrm rot="-2700000">
              <a:off x="34047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Cambia las contraseñas a menudo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5" name="Google Shape;255;p30"/>
            <p:cNvSpPr txBox="1"/>
            <p:nvPr/>
          </p:nvSpPr>
          <p:spPr>
            <a:xfrm rot="-2700000">
              <a:off x="3803593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" sz="800">
                  <a:latin typeface="Roboto"/>
                  <a:ea typeface="Roboto"/>
                  <a:cs typeface="Roboto"/>
                  <a:sym typeface="Roboto"/>
                </a:rPr>
                <a:t>Lo recomendable es cada 90 días.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6" name="Google Shape;256;p30"/>
          <p:cNvGrpSpPr/>
          <p:nvPr/>
        </p:nvGrpSpPr>
        <p:grpSpPr>
          <a:xfrm rot="2700000">
            <a:off x="5566757" y="1710127"/>
            <a:ext cx="2460276" cy="2460276"/>
            <a:chOff x="1776626" y="1318143"/>
            <a:chExt cx="2460300" cy="2460300"/>
          </a:xfrm>
        </p:grpSpPr>
        <p:grpSp>
          <p:nvGrpSpPr>
            <p:cNvPr id="257" name="Google Shape;257;p30"/>
            <p:cNvGrpSpPr/>
            <p:nvPr/>
          </p:nvGrpSpPr>
          <p:grpSpPr>
            <a:xfrm>
              <a:off x="1776626" y="1318143"/>
              <a:ext cx="2460300" cy="2460300"/>
              <a:chOff x="1776626" y="1318143"/>
              <a:chExt cx="2460300" cy="2460300"/>
            </a:xfrm>
          </p:grpSpPr>
          <p:sp>
            <p:nvSpPr>
              <p:cNvPr id="258" name="Google Shape;258;p30"/>
              <p:cNvSpPr/>
              <p:nvPr/>
            </p:nvSpPr>
            <p:spPr>
              <a:xfrm rot="2700000">
                <a:off x="2761975" y="1053398"/>
                <a:ext cx="489601" cy="2989789"/>
              </a:xfrm>
              <a:prstGeom prst="roundRect">
                <a:avLst>
                  <a:gd fmla="val 50000" name="adj"/>
                </a:avLst>
              </a:prstGeom>
              <a:solidFill>
                <a:srgbClr val="0C57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30"/>
              <p:cNvSpPr txBox="1"/>
              <p:nvPr/>
            </p:nvSpPr>
            <p:spPr>
              <a:xfrm rot="-2700000">
                <a:off x="1899549" y="2297849"/>
                <a:ext cx="2376303" cy="342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1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Usa el doble factor de autenticación si es posible.</a:t>
                </a:r>
                <a:endParaRPr b="1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60" name="Google Shape;260;p30"/>
            <p:cNvSpPr/>
            <p:nvPr/>
          </p:nvSpPr>
          <p:spPr>
            <a:xfrm rot="-2700000">
              <a:off x="1966105" y="3255432"/>
              <a:ext cx="326259" cy="3262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1" name="Google Shape;261;p30"/>
          <p:cNvGrpSpPr/>
          <p:nvPr/>
        </p:nvGrpSpPr>
        <p:grpSpPr>
          <a:xfrm rot="2700000">
            <a:off x="5578799" y="655370"/>
            <a:ext cx="2460276" cy="2460276"/>
            <a:chOff x="284959" y="1318143"/>
            <a:chExt cx="2460300" cy="2460300"/>
          </a:xfrm>
        </p:grpSpPr>
        <p:sp>
          <p:nvSpPr>
            <p:cNvPr id="262" name="Google Shape;262;p30"/>
            <p:cNvSpPr/>
            <p:nvPr/>
          </p:nvSpPr>
          <p:spPr>
            <a:xfrm rot="2700000">
              <a:off x="1270309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0"/>
            <p:cNvSpPr/>
            <p:nvPr/>
          </p:nvSpPr>
          <p:spPr>
            <a:xfrm rot="-2700000">
              <a:off x="472988" y="3255432"/>
              <a:ext cx="326259" cy="3262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0942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900">
                <a:solidFill>
                  <a:srgbClr val="0942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" name="Google Shape;264;p30"/>
            <p:cNvSpPr txBox="1"/>
            <p:nvPr/>
          </p:nvSpPr>
          <p:spPr>
            <a:xfrm rot="-2700000">
              <a:off x="414317" y="2300549"/>
              <a:ext cx="2368666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 apuntes ni compartas con nadie tus claves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1" title="browser-773215_12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150" y="579250"/>
            <a:ext cx="4368675" cy="436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31"/>
          <p:cNvGrpSpPr/>
          <p:nvPr/>
        </p:nvGrpSpPr>
        <p:grpSpPr>
          <a:xfrm>
            <a:off x="6781400" y="1885724"/>
            <a:ext cx="2212050" cy="3115375"/>
            <a:chOff x="6803287" y="-182942"/>
            <a:chExt cx="2212050" cy="3115375"/>
          </a:xfrm>
        </p:grpSpPr>
        <p:pic>
          <p:nvPicPr>
            <p:cNvPr id="271" name="Google Shape;2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87" y="-143547"/>
              <a:ext cx="2212050" cy="30759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rozo de cinta adhesiva que pega una nota a la diapositiva" id="272" name="Google Shape;272;p31"/>
            <p:cNvPicPr preferRelativeResize="0"/>
            <p:nvPr/>
          </p:nvPicPr>
          <p:blipFill rotWithShape="1">
            <a:blip r:embed="rId5">
              <a:alphaModFix/>
            </a:blip>
            <a:srcRect b="10011" l="9244" r="2118" t="5926"/>
            <a:stretch/>
          </p:blipFill>
          <p:spPr>
            <a:xfrm rot="190054">
              <a:off x="7370398" y="-153322"/>
              <a:ext cx="1077827" cy="4697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31"/>
            <p:cNvSpPr txBox="1"/>
            <p:nvPr/>
          </p:nvSpPr>
          <p:spPr>
            <a:xfrm>
              <a:off x="6944812" y="346060"/>
              <a:ext cx="1929000" cy="23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Otros consejos</a:t>
              </a:r>
              <a:endParaRPr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Raleway"/>
                <a:buChar char="●"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Evita guardar contraseñas en los </a:t>
              </a: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navegadores</a:t>
              </a: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 que utilices. </a:t>
              </a:r>
              <a:endParaRPr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Raleway"/>
                <a:buChar char="●"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Mantén tu sistema operativo actualizado.</a:t>
              </a:r>
              <a:endParaRPr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Raleway"/>
                <a:buChar char="●"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Cuando termines de utilizar un servicio online, cierra la sesión.</a:t>
              </a:r>
              <a:endParaRPr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t/>
              </a:r>
              <a:endParaRPr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274" name="Google Shape;274;p31"/>
          <p:cNvSpPr txBox="1"/>
          <p:nvPr>
            <p:ph type="title"/>
          </p:nvPr>
        </p:nvSpPr>
        <p:spPr>
          <a:xfrm>
            <a:off x="283100" y="102550"/>
            <a:ext cx="86223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Navegación segura.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419225" y="1083125"/>
            <a:ext cx="20379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Desconfía de páginas que te redirigen a otras webs o tienen constante publicidad emergente</a:t>
            </a:r>
            <a:endParaRPr/>
          </a:p>
        </p:txBody>
      </p:sp>
      <p:sp>
        <p:nvSpPr>
          <p:cNvPr id="276" name="Google Shape;276;p31"/>
          <p:cNvSpPr/>
          <p:nvPr/>
        </p:nvSpPr>
        <p:spPr>
          <a:xfrm>
            <a:off x="2733975" y="1074500"/>
            <a:ext cx="20379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realices descargas en webs desconocidas o sospechosas. </a:t>
            </a:r>
            <a:br>
              <a:rPr lang="es"/>
            </a:br>
            <a:r>
              <a:rPr lang="es"/>
              <a:t>Acude a la </a:t>
            </a:r>
            <a:r>
              <a:rPr lang="es"/>
              <a:t>página</a:t>
            </a:r>
            <a:r>
              <a:rPr lang="es"/>
              <a:t> oficial del proveedor del servicio. </a:t>
            </a:r>
            <a:endParaRPr/>
          </a:p>
        </p:txBody>
      </p:sp>
      <p:sp>
        <p:nvSpPr>
          <p:cNvPr id="277" name="Google Shape;277;p31"/>
          <p:cNvSpPr/>
          <p:nvPr/>
        </p:nvSpPr>
        <p:spPr>
          <a:xfrm>
            <a:off x="1181225" y="3064325"/>
            <a:ext cx="20379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la página web comienza por https:// y aparece la imagen de un candado en el navegador, es buena señal. De lo contrario, </a:t>
            </a:r>
            <a:r>
              <a:rPr lang="es"/>
              <a:t>desconfía</a:t>
            </a:r>
            <a:r>
              <a:rPr lang="es"/>
              <a:t>.</a:t>
            </a:r>
            <a:endParaRPr/>
          </a:p>
        </p:txBody>
      </p:sp>
      <p:sp>
        <p:nvSpPr>
          <p:cNvPr id="278" name="Google Shape;278;p31"/>
          <p:cNvSpPr/>
          <p:nvPr/>
        </p:nvSpPr>
        <p:spPr>
          <a:xfrm>
            <a:off x="3495975" y="3055700"/>
            <a:ext cx="2037900" cy="1779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introduzcas credenciales ni datos personales en páginas que no sean https://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025" y="162725"/>
            <a:ext cx="4543949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284" name="Google Shape;284;p32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19387" y="10395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2"/>
          <p:cNvSpPr txBox="1"/>
          <p:nvPr/>
        </p:nvSpPr>
        <p:spPr>
          <a:xfrm>
            <a:off x="2855550" y="7635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¡Felicitaciones</a:t>
            </a:r>
            <a:r>
              <a:rPr b="1" lang="es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!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6" name="Google Shape;286;p32"/>
          <p:cNvSpPr txBox="1"/>
          <p:nvPr>
            <p:ph idx="4294967295" type="body"/>
          </p:nvPr>
        </p:nvSpPr>
        <p:spPr>
          <a:xfrm>
            <a:off x="2855550" y="1225078"/>
            <a:ext cx="3432900" cy="163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Esperamos que los conocimientos adquiridos te ayuden a mejorar tu seguridad en </a:t>
            </a:r>
            <a:r>
              <a:rPr lang="es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línea</a:t>
            </a:r>
            <a:r>
              <a:rPr lang="es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protegiendo tus datos y navegando de forma más segura. </a:t>
            </a:r>
            <a:endParaRPr sz="12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a minion from the movie despicable me is standing next to a sign that says mission critical ! (proporcionado por Tenor)" id="287" name="Google Shape;287;p32"/>
          <p:cNvPicPr preferRelativeResize="0"/>
          <p:nvPr/>
        </p:nvPicPr>
        <p:blipFill rotWithShape="1">
          <a:blip r:embed="rId5">
            <a:alphaModFix/>
          </a:blip>
          <a:srcRect b="20274" l="0" r="0" t="0"/>
          <a:stretch/>
        </p:blipFill>
        <p:spPr>
          <a:xfrm>
            <a:off x="2447925" y="2911800"/>
            <a:ext cx="4214925" cy="19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